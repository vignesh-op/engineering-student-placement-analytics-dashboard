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3"/>
  </p:sldMasterIdLst>
  <p:notesMasterIdLst>
    <p:notesMasterId r:id="rId5"/>
  </p:notesMasterIdLst>
  <p:sldIdLst>
    <p:sldId id="256" r:id="rId4"/>
    <p:sldId id="571" r:id="rId6"/>
    <p:sldId id="572" r:id="rId7"/>
    <p:sldId id="573" r:id="rId8"/>
    <p:sldId id="574" r:id="rId9"/>
    <p:sldId id="575" r:id="rId10"/>
    <p:sldId id="576" r:id="rId11"/>
    <p:sldId id="577" r:id="rId12"/>
    <p:sldId id="579" r:id="rId13"/>
    <p:sldId id="578" r:id="rId14"/>
    <p:sldId id="536" r:id="rId15"/>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showGuides="1">
      <p:cViewPr varScale="1">
        <p:scale>
          <a:sx n="107" d="100"/>
          <a:sy n="107" d="100"/>
        </p:scale>
        <p:origin x="102" y="13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0" Type="http://schemas.openxmlformats.org/officeDocument/2006/relationships/tags" Target="tags/tag4.xml"/><Relationship Id="rId2" Type="http://schemas.openxmlformats.org/officeDocument/2006/relationships/theme" Target="theme/theme1.xml"/><Relationship Id="rId19" Type="http://schemas.microsoft.com/office/2018/10/relationships/authors" Targe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matchingName="Title and body">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a:p>
        </p:txBody>
      </p:sp>
      <p:sp>
        <p:nvSpPr>
          <p:cNvPr id="4" name="Date Placeholder 3"/>
          <p:cNvSpPr>
            <a:spLocks noGrp="1"/>
          </p:cNvSpPr>
          <p:nvPr>
            <p:ph type="dt" sz="half" idx="10"/>
          </p:nvPr>
        </p:nvSpPr>
        <p:spPr/>
        <p:txBody>
          <a:bodyPr/>
          <a:lstStyle/>
          <a:p>
            <a:fld id="{846CE7D5-CF57-46EF-B807-FDD0502418D4}"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matchingName="Title and body">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tags" Target="../tags/tag1.xml"/><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6.xml"/><Relationship Id="rId4" Type="http://schemas.openxmlformats.org/officeDocument/2006/relationships/tags" Target="../tags/tag2.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17379" y="1343054"/>
            <a:ext cx="4746772" cy="2506766"/>
          </a:xfrm>
          <a:prstGeom prst="rect">
            <a:avLst/>
          </a:prstGeom>
        </p:spPr>
        <p:txBody>
          <a:bodyPr vert="horz" lIns="91440" tIns="45720" rIns="91440" bIns="45720" rtlCol="0" anchor="b">
            <a:normAutofit fontScale="7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a:latin typeface="+mj-lt"/>
                <a:ea typeface="+mj-ea"/>
                <a:cs typeface="+mj-cs"/>
              </a:rPr>
              <a:t>CAPSTONE </a:t>
            </a:r>
            <a:r>
              <a:rPr lang="en-US" sz="2800" b="1"/>
              <a:t>PROJECT</a:t>
            </a:r>
            <a:endParaRPr lang="en-US" sz="5100">
              <a:latin typeface="Aptos"/>
            </a:endParaRPr>
          </a:p>
          <a:p>
            <a:pPr algn="l"/>
            <a:br>
              <a:rPr lang="en-US" sz="5100" b="1" dirty="0"/>
            </a:br>
            <a:r>
              <a:rPr lang="en-US" altLang="en-US" sz="5100">
                <a:latin typeface="Aptos"/>
              </a:rPr>
              <a:t>Engineering Student Placement Analytics Dashboard</a:t>
            </a:r>
            <a:endParaRPr lang="en-US" altLang="en-US" sz="5100">
              <a:latin typeface="Aptos"/>
            </a:endParaRPr>
          </a:p>
          <a:p>
            <a:pPr algn="l"/>
            <a:endParaRPr lang="en-US" sz="5100" b="1" kern="1200"/>
          </a:p>
        </p:txBody>
      </p:sp>
      <p:sp>
        <p:nvSpPr>
          <p:cNvPr id="5" name="Subtitle 2"/>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a:t>Presented By</a:t>
            </a:r>
            <a:endParaRPr lang="en-US" sz="1600" cap="all"/>
          </a:p>
          <a:p>
            <a:pPr algn="l">
              <a:spcAft>
                <a:spcPts val="600"/>
              </a:spcAft>
            </a:pPr>
            <a:r>
              <a:rPr lang="en-US" sz="1600" b="1" cap="all"/>
              <a:t>Student Name: Thikari vignesh</a:t>
            </a:r>
            <a:endParaRPr lang="en-US" sz="1600" b="1" cap="all"/>
          </a:p>
          <a:p>
            <a:pPr algn="l">
              <a:spcAft>
                <a:spcPts val="600"/>
              </a:spcAft>
            </a:pPr>
            <a:r>
              <a:rPr lang="en-US" sz="1600" b="1" cap="all"/>
              <a:t>College Name: matrusri engineering college</a:t>
            </a:r>
            <a:endParaRPr lang="en-US" sz="1600" b="1" cap="all"/>
          </a:p>
          <a:p>
            <a:pPr algn="l">
              <a:spcAft>
                <a:spcPts val="600"/>
              </a:spcAft>
            </a:pPr>
            <a:r>
              <a:rPr lang="en-US" sz="1600" b="1" cap="all"/>
              <a:t>Department: CSe-Data science</a:t>
            </a:r>
            <a:endParaRPr lang="en-US" sz="1600" b="1" cap="all"/>
          </a:p>
          <a:p>
            <a:pPr algn="l">
              <a:spcAft>
                <a:spcPts val="600"/>
              </a:spcAft>
            </a:pPr>
            <a:r>
              <a:rPr lang="en-US" sz="1600" b="1" cap="all"/>
              <a:t>Email ID: </a:t>
            </a:r>
            <a:r>
              <a:rPr lang="en-US" sz="1600" cap="all"/>
              <a:t>vigneshthikari@gmail.com</a:t>
            </a:r>
            <a:endParaRPr lang="en-US" sz="1600" cap="all"/>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p:cNvPicPr>
            <a:picLocks noChangeAspect="1"/>
          </p:cNvPicPr>
          <p:nvPr/>
        </p:nvPicPr>
        <p:blipFill>
          <a:blip r:embed="rId2"/>
          <a:stretch>
            <a:fillRect/>
          </a:stretch>
        </p:blipFill>
        <p:spPr>
          <a:xfrm>
            <a:off x="6409990" y="963029"/>
            <a:ext cx="4590784" cy="4936489"/>
          </a:xfrm>
          <a:prstGeom prst="rect">
            <a:avLst/>
          </a:prstGeom>
        </p:spPr>
      </p:pic>
      <p:pic>
        <p:nvPicPr>
          <p:cNvPr id="4" name="Picture 3" descr="WhatsApp Image 2026-03-07 at 4.03.25 PM"/>
          <p:cNvPicPr>
            <a:picLocks noChangeAspect="1"/>
          </p:cNvPicPr>
          <p:nvPr/>
        </p:nvPicPr>
        <p:blipFill>
          <a:blip r:embed="rId3"/>
          <a:stretch>
            <a:fillRect/>
          </a:stretch>
        </p:blipFill>
        <p:spPr>
          <a:xfrm>
            <a:off x="6409690" y="963295"/>
            <a:ext cx="4591050" cy="4931410"/>
          </a:xfrm>
          <a:prstGeom prst="rect">
            <a:avLst/>
          </a:prstGeom>
        </p:spPr>
      </p:pic>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panose="020B0604020202020204"/>
                <a:cs typeface="Arial" panose="020B0604020202020204"/>
              </a:rPr>
              <a:t>Problem Statement </a:t>
            </a:r>
            <a:r>
              <a:rPr lang="en-US" sz="2200">
                <a:latin typeface="Arial" panose="020B0604020202020204"/>
                <a:cs typeface="Arial" panose="020B0604020202020204"/>
              </a:rPr>
              <a:t>(Should not include solution)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Proposed System/Solution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System Development Approach </a:t>
            </a:r>
            <a:r>
              <a:rPr lang="en-US" sz="2200">
                <a:latin typeface="Arial" panose="020B0604020202020204"/>
                <a:cs typeface="Arial" panose="020B0604020202020204"/>
              </a:rPr>
              <a:t>(Technology Used) </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Algorithm &amp; Deployment  </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Result (Output Image)</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Conclusion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Future Scope</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References</a:t>
            </a:r>
            <a:endParaRPr lang="en-US" sz="2200">
              <a:latin typeface="Arial" panose="020B0604020202020204"/>
              <a:cs typeface="Arial" panose="020B0604020202020204"/>
            </a:endParaRPr>
          </a:p>
          <a:p>
            <a:endParaRPr lang="en-GB" sz="220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altLang="en-US" sz="2200">
                <a:latin typeface="Franklin Gothic Book" panose="020B0503020102020204"/>
              </a:rPr>
              <a:t>Engineering colleges produce thousands of graduates every year, but not all students secure placements. Many factors such as academic performance, technical skills, internships, hackathon participation, and backlogs influence employability. However, institutions often lack a data-driven approach to analyze these factors and identify which students are most likely to be placed.Without proper analytics, it becomes difficult for colleges to understand skill gaps, improve training programs, and increase placement success rates. </a:t>
            </a:r>
            <a:endParaRPr lang="en-US" sz="2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5" y="1304306"/>
            <a:ext cx="10515600" cy="4251960"/>
          </a:xfrm>
        </p:spPr>
        <p:txBody>
          <a:bodyPr vert="horz" lIns="91440" tIns="45720" rIns="91440" bIns="45720" rtlCol="0" anchor="t">
            <a:noAutofit/>
          </a:bodyPr>
          <a:lstStyle/>
          <a:p>
            <a:pPr marL="305435" indent="-305435">
              <a:spcBef>
                <a:spcPct val="20000"/>
              </a:spcBef>
              <a:spcAft>
                <a:spcPts val="600"/>
              </a:spcAft>
              <a:buFont typeface="Arial" panose="020B0604020202020204"/>
              <a:buChar char="•"/>
            </a:pPr>
            <a:r>
              <a:rPr lang="en-US" altLang="en-US" sz="2000" dirty="0"/>
              <a:t>The proposed solution is a data analytics dashboard developed using Power BI and Python that evaluates engineering students’ employability based on academic performance, skills, and practical experience.</a:t>
            </a:r>
            <a:endParaRPr lang="en-US" altLang="en-US" sz="2000" dirty="0"/>
          </a:p>
          <a:p>
            <a:pPr marL="305435" indent="-305435">
              <a:spcBef>
                <a:spcPct val="20000"/>
              </a:spcBef>
              <a:spcAft>
                <a:spcPts val="600"/>
              </a:spcAft>
              <a:buFont typeface="Arial" panose="020B0604020202020204"/>
              <a:buChar char="•"/>
            </a:pPr>
            <a:endParaRPr lang="en-US" altLang="en-US" sz="2000" dirty="0"/>
          </a:p>
          <a:p>
            <a:pPr marL="305435" indent="-305435">
              <a:spcBef>
                <a:spcPct val="20000"/>
              </a:spcBef>
              <a:spcAft>
                <a:spcPts val="600"/>
              </a:spcAft>
              <a:buFont typeface="Arial" panose="020B0604020202020204"/>
              <a:buChar char="•"/>
            </a:pPr>
            <a:r>
              <a:rPr lang="en-US" altLang="en-US" sz="2000" dirty="0"/>
              <a:t>The system processes the dataset and calculates key metrics such as skill score, internship experience, and academic performance. Based on these factors, a placement indicator column is generated to identify whether a student is likely to be placed.</a:t>
            </a:r>
            <a:endParaRPr lang="en-US" altLang="en-US" sz="2000" dirty="0"/>
          </a:p>
          <a:p>
            <a:pPr marL="305435" indent="-305435">
              <a:spcBef>
                <a:spcPct val="20000"/>
              </a:spcBef>
              <a:spcAft>
                <a:spcPts val="600"/>
              </a:spcAft>
              <a:buFont typeface="Arial" panose="020B0604020202020204"/>
              <a:buChar char="•"/>
            </a:pPr>
            <a:endParaRPr lang="en-US" altLang="en-US" sz="2000" dirty="0"/>
          </a:p>
          <a:p>
            <a:pPr marL="305435" indent="-305435">
              <a:spcBef>
                <a:spcPct val="20000"/>
              </a:spcBef>
              <a:spcAft>
                <a:spcPts val="600"/>
              </a:spcAft>
              <a:buFont typeface="Arial" panose="020B0604020202020204"/>
              <a:buChar char="•"/>
            </a:pPr>
            <a:r>
              <a:rPr lang="en-US" altLang="en-US" sz="2000" dirty="0"/>
              <a:t>The dashboard then visualizes this information using interactive charts, KPIs, and analytical insights to help institutions understand placement trends and factors influencing employability.</a:t>
            </a:r>
            <a:endParaRPr lang="en-US" alt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715586"/>
            <a:ext cx="10515600" cy="4251960"/>
          </a:xfrm>
        </p:spPr>
        <p:txBody>
          <a:bodyPr vert="horz" lIns="91440" tIns="45720" rIns="91440" bIns="45720" rtlCol="0">
            <a:normAutofit lnSpcReduction="10000"/>
          </a:bodyPr>
          <a:lstStyle/>
          <a:p>
            <a:pPr>
              <a:spcBef>
                <a:spcPct val="20000"/>
              </a:spcBef>
              <a:spcAft>
                <a:spcPts val="600"/>
              </a:spcAft>
            </a:pPr>
            <a:r>
              <a:rPr lang="en-US" altLang="en-US" sz="2200" b="1"/>
              <a:t>Data Analysis Libraries</a:t>
            </a:r>
            <a:endParaRPr lang="en-US" altLang="en-US" sz="2200" b="1"/>
          </a:p>
          <a:p>
            <a:pPr marL="0" indent="0">
              <a:spcBef>
                <a:spcPct val="20000"/>
              </a:spcBef>
              <a:spcAft>
                <a:spcPts val="600"/>
              </a:spcAft>
              <a:buNone/>
            </a:pPr>
            <a:r>
              <a:rPr lang="en-US" altLang="en-US" sz="2200"/>
              <a:t>        Pandas – Data manipulation and preprocessing</a:t>
            </a:r>
            <a:endParaRPr lang="en-US" altLang="en-US" sz="2200"/>
          </a:p>
          <a:p>
            <a:pPr marL="0" indent="0">
              <a:spcBef>
                <a:spcPct val="20000"/>
              </a:spcBef>
              <a:spcAft>
                <a:spcPts val="600"/>
              </a:spcAft>
              <a:buNone/>
            </a:pPr>
            <a:r>
              <a:rPr lang="en-US" altLang="en-US" sz="2200"/>
              <a:t>        NumPy – Numerical computations</a:t>
            </a:r>
            <a:endParaRPr lang="en-US" altLang="en-US" sz="2200"/>
          </a:p>
          <a:p>
            <a:pPr>
              <a:spcBef>
                <a:spcPct val="20000"/>
              </a:spcBef>
              <a:spcAft>
                <a:spcPts val="600"/>
              </a:spcAft>
            </a:pPr>
            <a:r>
              <a:rPr lang="en-US" altLang="en-US" sz="2200" b="1"/>
              <a:t>Data Visualization</a:t>
            </a:r>
            <a:endParaRPr lang="en-US" altLang="en-US" sz="2200" b="1"/>
          </a:p>
          <a:p>
            <a:pPr marL="0" indent="0">
              <a:spcBef>
                <a:spcPct val="20000"/>
              </a:spcBef>
              <a:spcAft>
                <a:spcPts val="600"/>
              </a:spcAft>
              <a:buNone/>
            </a:pPr>
            <a:r>
              <a:rPr lang="en-US" altLang="en-US" sz="2200"/>
              <a:t>        Microsoft Power BI</a:t>
            </a:r>
            <a:endParaRPr lang="en-US" altLang="en-US" sz="2200"/>
          </a:p>
          <a:p>
            <a:pPr>
              <a:spcBef>
                <a:spcPct val="20000"/>
              </a:spcBef>
              <a:spcAft>
                <a:spcPts val="600"/>
              </a:spcAft>
            </a:pPr>
            <a:r>
              <a:rPr lang="en-US" altLang="en-US" sz="2200" b="1"/>
              <a:t>Dataset Format</a:t>
            </a:r>
            <a:endParaRPr lang="en-US" altLang="en-US" sz="2200" b="1"/>
          </a:p>
          <a:p>
            <a:pPr marL="0" indent="0">
              <a:spcBef>
                <a:spcPct val="20000"/>
              </a:spcBef>
              <a:spcAft>
                <a:spcPts val="600"/>
              </a:spcAft>
              <a:buNone/>
            </a:pPr>
            <a:r>
              <a:rPr lang="en-US" altLang="en-US" sz="2200"/>
              <a:t>        CSV (Comma Separated Values)</a:t>
            </a:r>
            <a:endParaRPr lang="en-US" altLang="en-US" sz="2200"/>
          </a:p>
          <a:p>
            <a:pPr>
              <a:spcBef>
                <a:spcPct val="20000"/>
              </a:spcBef>
              <a:spcAft>
                <a:spcPts val="600"/>
              </a:spcAft>
            </a:pPr>
            <a:r>
              <a:rPr lang="en-US" altLang="en-US" sz="2200" b="1"/>
              <a:t>Development Tools</a:t>
            </a:r>
            <a:endParaRPr lang="en-US" altLang="en-US" sz="2200" b="1"/>
          </a:p>
          <a:p>
            <a:pPr marL="0" indent="0">
              <a:spcBef>
                <a:spcPct val="20000"/>
              </a:spcBef>
              <a:spcAft>
                <a:spcPts val="600"/>
              </a:spcAft>
              <a:buNone/>
            </a:pPr>
            <a:r>
              <a:rPr lang="en-US" altLang="en-US" sz="2200"/>
              <a:t>        Google Colab Notebook</a:t>
            </a:r>
            <a:endParaRPr lang="en-US" altLang="en-US" sz="2200"/>
          </a:p>
          <a:p>
            <a:pPr marL="0" indent="0">
              <a:spcBef>
                <a:spcPct val="20000"/>
              </a:spcBef>
              <a:spcAft>
                <a:spcPts val="600"/>
              </a:spcAft>
              <a:buNone/>
            </a:pPr>
            <a:r>
              <a:rPr lang="en-US" altLang="en-US" sz="2200"/>
              <a:t>         Power BI Desktop</a:t>
            </a:r>
            <a:endParaRPr lang="en-US" altLang="en-US" sz="2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572196"/>
            <a:ext cx="10515600" cy="4251960"/>
          </a:xfrm>
        </p:spPr>
        <p:txBody>
          <a:bodyPr vert="horz" lIns="91440" tIns="45720" rIns="91440" bIns="45720" rtlCol="0">
            <a:noAutofit/>
          </a:bodyPr>
          <a:lstStyle/>
          <a:p>
            <a:pPr marL="305435" indent="-305435">
              <a:spcBef>
                <a:spcPct val="20000"/>
              </a:spcBef>
              <a:spcAft>
                <a:spcPts val="600"/>
              </a:spcAft>
              <a:buFont typeface="Arial" panose="020B0604020202020204"/>
              <a:buChar char="•"/>
            </a:pPr>
            <a:r>
              <a:rPr lang="en-US" altLang="en-US" sz="2400"/>
              <a:t>Load the dataset containing student academic and skill details.</a:t>
            </a:r>
            <a:endParaRPr lang="en-US" altLang="en-US" sz="2400"/>
          </a:p>
          <a:p>
            <a:pPr marL="305435" indent="-305435">
              <a:spcBef>
                <a:spcPct val="20000"/>
              </a:spcBef>
              <a:spcAft>
                <a:spcPts val="600"/>
              </a:spcAft>
              <a:buFont typeface="Arial" panose="020B0604020202020204"/>
              <a:buChar char="•"/>
            </a:pPr>
            <a:r>
              <a:rPr lang="en-US" altLang="en-US" sz="2400"/>
              <a:t>Calculate the average values for key parameters including: Tenth percentage , Twelfth percentage , CGPA , Backlogs , Internships completed , Hackathons participated</a:t>
            </a:r>
            <a:endParaRPr lang="en-US" altLang="en-US" sz="2400"/>
          </a:p>
          <a:p>
            <a:pPr marL="305435" indent="-305435">
              <a:spcBef>
                <a:spcPct val="20000"/>
              </a:spcBef>
              <a:spcAft>
                <a:spcPts val="600"/>
              </a:spcAft>
              <a:buFont typeface="Arial" panose="020B0604020202020204"/>
              <a:buChar char="•"/>
            </a:pPr>
            <a:r>
              <a:rPr lang="en-US" altLang="en-US" sz="2400"/>
              <a:t>Compute an average score for each student using these parameters.</a:t>
            </a:r>
            <a:endParaRPr lang="en-US" altLang="en-US" sz="2400"/>
          </a:p>
          <a:p>
            <a:pPr marL="305435" indent="-305435">
              <a:spcBef>
                <a:spcPct val="20000"/>
              </a:spcBef>
              <a:spcAft>
                <a:spcPts val="600"/>
              </a:spcAft>
              <a:buFont typeface="Arial" panose="020B0604020202020204"/>
              <a:buChar char="•"/>
            </a:pPr>
            <a:r>
              <a:rPr lang="en-US" altLang="en-US" sz="2400"/>
              <a:t>Compare each student's score with the dataset average.</a:t>
            </a:r>
            <a:endParaRPr lang="en-US" altLang="en-US" sz="2400"/>
          </a:p>
          <a:p>
            <a:pPr marL="305435" indent="-305435">
              <a:spcBef>
                <a:spcPct val="20000"/>
              </a:spcBef>
              <a:spcAft>
                <a:spcPts val="600"/>
              </a:spcAft>
              <a:buFont typeface="Arial" panose="020B0604020202020204"/>
              <a:buChar char="•"/>
            </a:pPr>
            <a:r>
              <a:rPr lang="en-US" altLang="en-US" sz="2400"/>
              <a:t> If the student’s score is greater than or equal to the average, mark the student as “Placed”, otherwise mark as “No”.</a:t>
            </a:r>
            <a:endParaRPr lang="en-US" altLang="en-US" sz="2400"/>
          </a:p>
          <a:p>
            <a:pPr marL="305435" indent="-305435">
              <a:spcBef>
                <a:spcPct val="20000"/>
              </a:spcBef>
              <a:spcAft>
                <a:spcPts val="600"/>
              </a:spcAft>
              <a:buFont typeface="Arial" panose="020B0604020202020204"/>
              <a:buChar char="•"/>
            </a:pPr>
            <a:r>
              <a:rPr lang="en-US" altLang="en-US" sz="2400"/>
              <a:t>Store the results in a new column called Placed.</a:t>
            </a:r>
            <a:endParaRPr lang="en-US" altLang="en-US" sz="2400"/>
          </a:p>
          <a:p>
            <a:pPr marL="305435" indent="-305435">
              <a:spcBef>
                <a:spcPct val="20000"/>
              </a:spcBef>
              <a:spcAft>
                <a:spcPts val="600"/>
              </a:spcAft>
              <a:buFont typeface="Arial" panose="020B0604020202020204"/>
              <a:buChar char="•"/>
            </a:pPr>
            <a:r>
              <a:rPr lang="en-US" altLang="en-US" sz="2400"/>
              <a:t> Use Power BI to visualize placement patterns and insights.</a:t>
            </a:r>
            <a:endParaRPr lang="en-US" alt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sp>
        <p:nvSpPr>
          <p:cNvPr id="3" name="Content Placeholder 2"/>
          <p:cNvSpPr>
            <a:spLocks noGrp="1"/>
          </p:cNvSpPr>
          <p:nvPr>
            <p:ph idx="1"/>
          </p:nvPr>
        </p:nvSpPr>
        <p:spPr>
          <a:xfrm>
            <a:off x="337820" y="1252855"/>
            <a:ext cx="10515600" cy="4583430"/>
          </a:xfrm>
        </p:spPr>
        <p:txBody>
          <a:bodyPr vert="horz" lIns="91440" tIns="45720" rIns="91440" bIns="45720" rtlCol="0">
            <a:normAutofit/>
          </a:bodyPr>
          <a:lstStyle/>
          <a:p>
            <a:pPr marL="0" indent="0">
              <a:buNone/>
            </a:pPr>
            <a:r>
              <a:rPr lang="en-US" altLang="en-US" sz="2200"/>
              <a:t>The system successfully analyzed the student dataset and generated meaningful insights regarding employability.</a:t>
            </a:r>
            <a:endParaRPr lang="en-US" altLang="en-US" sz="2200"/>
          </a:p>
          <a:p>
            <a:pPr marL="0" indent="0">
              <a:buNone/>
            </a:pPr>
            <a:r>
              <a:rPr lang="en-US" altLang="en-US" sz="2200"/>
              <a:t>Key results obtained include:</a:t>
            </a:r>
            <a:endParaRPr lang="en-US" altLang="en-US" sz="2200"/>
          </a:p>
          <a:p>
            <a:r>
              <a:rPr lang="en-US" altLang="en-US" sz="2200"/>
              <a:t>Identification of students in college.</a:t>
            </a:r>
            <a:endParaRPr lang="en-US" altLang="en-US" sz="2200"/>
          </a:p>
          <a:p>
            <a:r>
              <a:rPr lang="en-US" altLang="en-US" sz="2200"/>
              <a:t>Analysis of internships, hackathons, and academic performance on placements.</a:t>
            </a:r>
            <a:endParaRPr lang="en-US" altLang="en-US" sz="2200"/>
          </a:p>
          <a:p>
            <a:r>
              <a:rPr lang="en-US" altLang="en-US" sz="2200"/>
              <a:t>Skill score analysis</a:t>
            </a:r>
            <a:endParaRPr lang="en-US" altLang="en-US" sz="2200"/>
          </a:p>
        </p:txBody>
      </p:sp>
      <p:pic>
        <p:nvPicPr>
          <p:cNvPr id="4" name="Picture 3" descr="Screenshot 2026-03-07 143615"/>
          <p:cNvPicPr>
            <a:picLocks noChangeAspect="1"/>
          </p:cNvPicPr>
          <p:nvPr/>
        </p:nvPicPr>
        <p:blipFill>
          <a:blip r:embed="rId1"/>
          <a:stretch>
            <a:fillRect/>
          </a:stretch>
        </p:blipFill>
        <p:spPr>
          <a:xfrm>
            <a:off x="8268970" y="4256405"/>
            <a:ext cx="3688715" cy="2170430"/>
          </a:xfrm>
          <a:prstGeom prst="rect">
            <a:avLst/>
          </a:prstGeom>
        </p:spPr>
      </p:pic>
      <p:pic>
        <p:nvPicPr>
          <p:cNvPr id="5" name="Picture 4" descr="Screenshot 2026-03-07 143753"/>
          <p:cNvPicPr>
            <a:picLocks noChangeAspect="1"/>
          </p:cNvPicPr>
          <p:nvPr/>
        </p:nvPicPr>
        <p:blipFill>
          <a:blip r:embed="rId2"/>
          <a:stretch>
            <a:fillRect/>
          </a:stretch>
        </p:blipFill>
        <p:spPr>
          <a:xfrm>
            <a:off x="8266430" y="4254500"/>
            <a:ext cx="3679825" cy="2164715"/>
          </a:xfrm>
          <a:prstGeom prst="rect">
            <a:avLst/>
          </a:prstGeom>
        </p:spPr>
      </p:pic>
      <p:pic>
        <p:nvPicPr>
          <p:cNvPr id="6" name="Picture 5" descr="Screenshot 2026-03-07 143829"/>
          <p:cNvPicPr>
            <a:picLocks noChangeAspect="1"/>
          </p:cNvPicPr>
          <p:nvPr/>
        </p:nvPicPr>
        <p:blipFill>
          <a:blip r:embed="rId3"/>
          <a:stretch>
            <a:fillRect/>
          </a:stretch>
        </p:blipFill>
        <p:spPr>
          <a:xfrm>
            <a:off x="8268970" y="4261485"/>
            <a:ext cx="3684905" cy="2184400"/>
          </a:xfrm>
          <a:prstGeom prst="rect">
            <a:avLst/>
          </a:prstGeom>
        </p:spPr>
      </p:pic>
      <p:pic>
        <p:nvPicPr>
          <p:cNvPr id="7" name="Picture 6" descr="Screenshot 2026-03-07 143753"/>
          <p:cNvPicPr>
            <a:picLocks noChangeAspect="1"/>
          </p:cNvPicPr>
          <p:nvPr/>
        </p:nvPicPr>
        <p:blipFill>
          <a:blip r:embed="rId2"/>
          <a:stretch>
            <a:fillRect/>
          </a:stretch>
        </p:blipFill>
        <p:spPr>
          <a:xfrm>
            <a:off x="3782695" y="4280535"/>
            <a:ext cx="4340860" cy="2165350"/>
          </a:xfrm>
          <a:prstGeom prst="rect">
            <a:avLst/>
          </a:prstGeom>
        </p:spPr>
      </p:pic>
      <p:pic>
        <p:nvPicPr>
          <p:cNvPr id="8" name="Picture 7" descr="Screenshot 2026-03-07 143615"/>
          <p:cNvPicPr>
            <a:picLocks noChangeAspect="1"/>
          </p:cNvPicPr>
          <p:nvPr/>
        </p:nvPicPr>
        <p:blipFill>
          <a:blip r:embed="rId1"/>
          <a:stretch>
            <a:fillRect/>
          </a:stretch>
        </p:blipFill>
        <p:spPr>
          <a:xfrm>
            <a:off x="332105" y="4258310"/>
            <a:ext cx="3304540" cy="21875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altLang="en-US" sz="2200"/>
              <a:t>The project demonstrates how data analytics can be used to evaluate engineering students’ employability and identify factors that influence placement success. By analyzing academic performance, skills, and practical exposure, the system provides valuable insights that help institutions improve training programs and placement strategies.</a:t>
            </a:r>
            <a:endParaRPr lang="en-US" altLang="en-US" sz="2200"/>
          </a:p>
          <a:p>
            <a:pPr marL="0" indent="0">
              <a:buNone/>
            </a:pPr>
            <a:endParaRPr lang="en-US" altLang="en-US" sz="2200"/>
          </a:p>
          <a:p>
            <a:pPr marL="0" indent="0">
              <a:buNone/>
            </a:pPr>
            <a:r>
              <a:rPr lang="en-US" altLang="en-US" sz="2200"/>
              <a:t>The interactive dashboard enables stakeholders to quickly understand student performance patterns and identify areas where students need improvement. Overall, the system helps bridge the gap between academic education and industry requirements.</a:t>
            </a:r>
            <a:endParaRPr lang="en-US" altLang="en-US" sz="2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304434"/>
            <a:ext cx="10515600" cy="4251960"/>
          </a:xfrm>
        </p:spPr>
        <p:txBody>
          <a:bodyPr vert="horz" lIns="91440" tIns="45720" rIns="91440" bIns="45720" rtlCol="0">
            <a:normAutofit/>
          </a:bodyPr>
          <a:lstStyle/>
          <a:p>
            <a:pPr marL="0" indent="0">
              <a:spcBef>
                <a:spcPct val="20000"/>
              </a:spcBef>
              <a:spcAft>
                <a:spcPts val="600"/>
              </a:spcAft>
              <a:buNone/>
            </a:pPr>
            <a:r>
              <a:rPr lang="en-US" altLang="en-US" sz="2200"/>
              <a:t>The system can be further improved with several enhancements:</a:t>
            </a:r>
            <a:endParaRPr lang="en-US" altLang="en-US" sz="2200"/>
          </a:p>
          <a:p>
            <a:pPr>
              <a:spcBef>
                <a:spcPct val="20000"/>
              </a:spcBef>
              <a:spcAft>
                <a:spcPts val="600"/>
              </a:spcAft>
            </a:pPr>
            <a:r>
              <a:rPr lang="en-US" altLang="en-US" sz="2200"/>
              <a:t>Integration of machine learning models to predict placement probability more accurately.</a:t>
            </a:r>
            <a:endParaRPr lang="en-US" altLang="en-US" sz="2200"/>
          </a:p>
          <a:p>
            <a:pPr>
              <a:spcBef>
                <a:spcPct val="20000"/>
              </a:spcBef>
              <a:spcAft>
                <a:spcPts val="600"/>
              </a:spcAft>
            </a:pPr>
            <a:r>
              <a:rPr lang="en-US" altLang="en-US" sz="2200"/>
              <a:t>Addition of real-time student performance tracking.</a:t>
            </a:r>
            <a:endParaRPr lang="en-US" altLang="en-US" sz="2200"/>
          </a:p>
          <a:p>
            <a:pPr>
              <a:spcBef>
                <a:spcPct val="20000"/>
              </a:spcBef>
              <a:spcAft>
                <a:spcPts val="600"/>
              </a:spcAft>
            </a:pPr>
            <a:r>
              <a:rPr lang="en-US" altLang="en-US" sz="2200"/>
              <a:t>Development of a web-based dashboard accessible to students and faculty.</a:t>
            </a:r>
            <a:endParaRPr lang="en-US" altLang="en-US" sz="2200"/>
          </a:p>
          <a:p>
            <a:pPr>
              <a:spcBef>
                <a:spcPct val="20000"/>
              </a:spcBef>
              <a:spcAft>
                <a:spcPts val="600"/>
              </a:spcAft>
            </a:pPr>
            <a:r>
              <a:rPr lang="en-US" altLang="en-US" sz="2200"/>
              <a:t>Incorporation of resume analysis and interview performance data.</a:t>
            </a:r>
            <a:endParaRPr lang="en-US" altLang="en-US" sz="2200"/>
          </a:p>
          <a:p>
            <a:pPr>
              <a:spcBef>
                <a:spcPct val="20000"/>
              </a:spcBef>
              <a:spcAft>
                <a:spcPts val="600"/>
              </a:spcAft>
            </a:pPr>
            <a:r>
              <a:rPr lang="en-US" altLang="en-US" sz="2200"/>
              <a:t>Use of AI-driven career recommendation systems to guide students toward suitable job roles.</a:t>
            </a:r>
            <a:endParaRPr lang="en-US" altLang="en-US" sz="2200"/>
          </a:p>
          <a:p>
            <a:pPr marL="0" indent="0">
              <a:spcBef>
                <a:spcPct val="20000"/>
              </a:spcBef>
              <a:spcAft>
                <a:spcPts val="600"/>
              </a:spcAft>
              <a:buNone/>
            </a:pPr>
            <a:r>
              <a:rPr lang="en-US" altLang="en-US" sz="2200"/>
              <a:t>These improvements would make the system more intelligent and useful for placement planning.</a:t>
            </a:r>
            <a:endParaRPr lang="en-US" altLang="en-US" sz="2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200">
                <a:latin typeface="Franklin Gothic Book" panose="020B0503020102020204"/>
              </a:rPr>
              <a:t>GitHub Link:</a:t>
            </a:r>
            <a:r>
              <a:rPr lang="en-IN" sz="2200">
                <a:solidFill>
                  <a:srgbClr val="0070C0"/>
                </a:solidFill>
                <a:latin typeface="Franklin Gothic Book" panose="020B0503020102020204"/>
              </a:rPr>
              <a:t> </a:t>
            </a:r>
            <a:endParaRPr lang="en-IN" sz="2200">
              <a:solidFill>
                <a:srgbClr val="0070C0"/>
              </a:solidFill>
              <a:latin typeface="Franklin Gothic Book" panose="020B0503020102020204"/>
            </a:endParaRPr>
          </a:p>
          <a:p>
            <a:pPr marL="0" indent="0">
              <a:buNone/>
            </a:pPr>
            <a:r>
              <a:rPr lang="en-US" altLang="en-US" sz="2200" u="sng">
                <a:solidFill>
                  <a:srgbClr val="0070C0"/>
                </a:solidFill>
                <a:latin typeface="Franklin Gothic Book" panose="020B0503020102020204"/>
              </a:rPr>
              <a:t>https://github.com/Vignesh-op/Engineering-Student-Placement-Analytics-Dashboard</a:t>
            </a:r>
            <a:endParaRPr lang="en-US" altLang="en-US" sz="2200" u="sng">
              <a:solidFill>
                <a:srgbClr val="0070C0"/>
              </a:solidFill>
              <a:latin typeface="Franklin Gothic Book" panose="020B0503020102020204"/>
            </a:endParaRPr>
          </a:p>
          <a:p>
            <a:pPr marL="0" indent="0">
              <a:buNone/>
            </a:pPr>
            <a:endParaRPr lang="en-US" altLang="en-US" sz="2200" u="sng">
              <a:solidFill>
                <a:srgbClr val="0070C0"/>
              </a:solidFill>
              <a:latin typeface="Franklin Gothic Book" panose="020B0503020102020204"/>
            </a:endParaRPr>
          </a:p>
          <a:p>
            <a:pPr marL="0" indent="0">
              <a:buNone/>
            </a:pPr>
            <a:r>
              <a:rPr lang="en-US" altLang="en-IN" sz="2200">
                <a:latin typeface="Franklin Gothic Book" panose="020B0503020102020204"/>
                <a:sym typeface="+mn-ea"/>
              </a:rPr>
              <a:t>Dataset</a:t>
            </a:r>
            <a:r>
              <a:rPr lang="en-IN" sz="2200">
                <a:latin typeface="Franklin Gothic Book" panose="020B0503020102020204"/>
                <a:sym typeface="+mn-ea"/>
              </a:rPr>
              <a:t> Link:</a:t>
            </a:r>
            <a:r>
              <a:rPr lang="en-IN" sz="2200">
                <a:solidFill>
                  <a:srgbClr val="0070C0"/>
                </a:solidFill>
                <a:latin typeface="Franklin Gothic Book" panose="020B0503020102020204"/>
                <a:sym typeface="+mn-ea"/>
              </a:rPr>
              <a:t> </a:t>
            </a:r>
            <a:endParaRPr lang="en-IN" sz="2200">
              <a:solidFill>
                <a:srgbClr val="0070C0"/>
              </a:solidFill>
              <a:latin typeface="Franklin Gothic Book" panose="020B0503020102020204"/>
            </a:endParaRPr>
          </a:p>
          <a:p>
            <a:pPr marL="0" indent="0">
              <a:buNone/>
            </a:pPr>
            <a:r>
              <a:rPr lang="en-US" altLang="en-US" sz="2200" u="sng">
                <a:solidFill>
                  <a:srgbClr val="0070C0"/>
                </a:solidFill>
                <a:latin typeface="Franklin Gothic Book" panose="020B0503020102020204"/>
              </a:rPr>
              <a:t>https://www.kaggle.com/datasets/vishardmehta/indian-engineering-college-placement-dataset  </a:t>
            </a:r>
            <a:endParaRPr lang="en-US" altLang="en-US" sz="2200" u="sng">
              <a:solidFill>
                <a:srgbClr val="0070C0"/>
              </a:solidFill>
              <a:latin typeface="Franklin Gothic Book" panose="020B0503020102020204"/>
            </a:endParaRPr>
          </a:p>
          <a:p>
            <a:pPr marL="0" indent="0">
              <a:buNone/>
            </a:pPr>
            <a:endParaRPr lang="en-IN" sz="2200" u="sng">
              <a:solidFill>
                <a:srgbClr val="0070C0"/>
              </a:solidFill>
              <a:latin typeface="Franklin Gothic Book" panose="020B0503020102020204"/>
            </a:endParaRPr>
          </a:p>
          <a:p>
            <a:pPr marL="0" indent="0">
              <a:buNone/>
            </a:pPr>
            <a:r>
              <a:rPr lang="en-US" altLang="en-IN" sz="2200">
                <a:latin typeface="Franklin Gothic Book" panose="020B0503020102020204"/>
                <a:sym typeface="+mn-ea"/>
              </a:rPr>
              <a:t>Research paper</a:t>
            </a:r>
            <a:r>
              <a:rPr lang="en-IN" sz="2200">
                <a:latin typeface="Franklin Gothic Book" panose="020B0503020102020204"/>
                <a:sym typeface="+mn-ea"/>
              </a:rPr>
              <a:t>:</a:t>
            </a:r>
            <a:r>
              <a:rPr lang="en-IN" sz="2200">
                <a:solidFill>
                  <a:srgbClr val="0070C0"/>
                </a:solidFill>
                <a:latin typeface="Franklin Gothic Book" panose="020B0503020102020204"/>
                <a:sym typeface="+mn-ea"/>
              </a:rPr>
              <a:t> </a:t>
            </a:r>
            <a:endParaRPr lang="en-IN" sz="2200" u="sng">
              <a:solidFill>
                <a:srgbClr val="0070C0"/>
              </a:solidFill>
              <a:latin typeface="Franklin Gothic Book" panose="020B0503020102020204"/>
            </a:endParaRPr>
          </a:p>
          <a:p>
            <a:pPr marL="0" indent="0">
              <a:buNone/>
            </a:pPr>
            <a:r>
              <a:rPr lang="en-US" altLang="en-US" sz="2200" u="sng">
                <a:solidFill>
                  <a:srgbClr val="0070C0"/>
                </a:solidFill>
                <a:latin typeface="Franklin Gothic Book" panose="020B0503020102020204"/>
              </a:rPr>
              <a:t>https://www.mecs-press.org/ijeme/ijeme-v15-n1/v15n1-2.html</a:t>
            </a:r>
            <a:endParaRPr lang="en-US" altLang="en-US" sz="2200" u="sng">
              <a:solidFill>
                <a:srgbClr val="0070C0"/>
              </a:solidFill>
              <a:latin typeface="Franklin Gothic Book" panose="020B0503020102020204"/>
            </a:endParaRPr>
          </a:p>
          <a:p>
            <a:pPr marL="0" indent="0">
              <a:buNone/>
            </a:pPr>
            <a:endParaRPr lang="en-IN" sz="2200">
              <a:latin typeface="Franklin Gothic Book" panose="020B05030201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endParaRPr lang="en-US" sz="4800" b="1">
              <a:solidFill>
                <a:srgbClr val="002060"/>
              </a:solidFill>
              <a:latin typeface="Arial" panose="020B0604020202020204"/>
              <a:cs typeface="Arial" panose="020B0604020202020204"/>
            </a:endParaRPr>
          </a:p>
        </p:txBody>
      </p:sp>
    </p:spTree>
    <p:custDataLst>
      <p:tags r:id="rId1"/>
    </p:custDataLst>
  </p:cSld>
  <p:clrMapOvr>
    <a:masterClrMapping/>
  </p:clrMapOvr>
</p:sld>
</file>

<file path=ppt/tags/tag1.xml><?xml version="1.0" encoding="utf-8"?>
<p:tagLst xmlns:p="http://schemas.openxmlformats.org/presentationml/2006/main">
  <p:tag name="ARTICULATE_SLIDE_THUMBNAIL_REFRESH" val="1"/>
</p:tagLst>
</file>

<file path=ppt/tags/tag2.xml><?xml version="1.0" encoding="utf-8"?>
<p:tagLst xmlns:p="http://schemas.openxmlformats.org/presentationml/2006/main">
  <p:tag name="ARTICULATE_SLIDE_THUMBNAIL_REFRESH" val="1"/>
</p:tagLst>
</file>

<file path=ppt/tags/tag3.xml><?xml version="1.0" encoding="utf-8"?>
<p:tagLst xmlns:p="http://schemas.openxmlformats.org/presentationml/2006/main">
  <p:tag name="ARTICULATE_SLIDE_THUMBNAIL_REFRESH" val="1"/>
</p:tagLst>
</file>

<file path=ppt/tags/tag4.xml><?xml version="1.0" encoding="utf-8"?>
<p:tagLst xmlns:p="http://schemas.openxmlformats.org/presentationml/2006/main">
  <p:tag name="ARTICULATE_DESIGN_ID_1_OFFICE THEME" val="TmdBxN3j"/>
  <p:tag name="ARTICULATE_PROJECT_OPEN" val="0"/>
  <p:tag name="ARTICULATE_SLIDE_COUNT" val="9"/>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4207</Words>
  <Application>WPS Presentation</Application>
  <PresentationFormat>Widescreen</PresentationFormat>
  <Paragraphs>95</Paragraphs>
  <Slides>11</Slides>
  <Notes>2</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11</vt:i4>
      </vt:variant>
    </vt:vector>
  </HeadingPairs>
  <TitlesOfParts>
    <vt:vector size="25" baseType="lpstr">
      <vt:lpstr>Arial</vt:lpstr>
      <vt:lpstr>SimSun</vt:lpstr>
      <vt:lpstr>Wingdings</vt:lpstr>
      <vt:lpstr>Aptos</vt:lpstr>
      <vt:lpstr>Segoe UI</vt:lpstr>
      <vt:lpstr>Arial</vt:lpstr>
      <vt:lpstr>Franklin Gothic Book</vt:lpstr>
      <vt:lpstr>Calibri</vt:lpstr>
      <vt:lpstr>Aptos Display</vt:lpstr>
      <vt:lpstr>Microsoft YaHei</vt:lpstr>
      <vt:lpstr>Arial Unicode MS</vt:lpstr>
      <vt:lpstr>Aptos</vt:lpstr>
      <vt:lpstr>1_Office Theme</vt:lpstr>
      <vt:lpstr>Custom Design</vt:lpstr>
      <vt:lpstr>PowerPoint 演示文稿</vt:lpstr>
      <vt:lpstr>OUTLINE:</vt:lpstr>
      <vt:lpstr>Problem Statement:</vt:lpstr>
      <vt:lpstr>Proposed Solution:</vt:lpstr>
      <vt:lpstr>System  Approach:</vt:lpstr>
      <vt:lpstr>Algorithm &amp; Deployment:</vt:lpstr>
      <vt:lpstr>Result:</vt:lpstr>
      <vt:lpstr>Conclusion:</vt:lpstr>
      <vt:lpstr>Future scope:</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Thikari Vignesh</cp:lastModifiedBy>
  <cp:revision>104</cp:revision>
  <dcterms:created xsi:type="dcterms:W3CDTF">2024-05-21T11:55:00Z</dcterms:created>
  <dcterms:modified xsi:type="dcterms:W3CDTF">2026-03-07T10:36:29Z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1033-12.2.0.23196</vt:lpwstr>
  </property>
</Properties>
</file>